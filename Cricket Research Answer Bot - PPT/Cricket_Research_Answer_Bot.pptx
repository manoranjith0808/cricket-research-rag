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0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926080"/>
            <a:ext cx="9601200" cy="9601200"/>
          </a:xfrm>
          <a:prstGeom prst="ellipse">
            <a:avLst/>
          </a:prstGeom>
          <a:ln w="19050">
            <a:solidFill>
              <a:srgbClr val="2C5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-2011680"/>
            <a:ext cx="7772400" cy="7772400"/>
          </a:xfrm>
          <a:prstGeom prst="ellipse">
            <a:avLst/>
          </a:prstGeom>
          <a:ln w="19050">
            <a:solidFill>
              <a:srgbClr val="2C5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188720"/>
            <a:ext cx="6126480" cy="6126480"/>
          </a:xfrm>
          <a:prstGeom prst="ellipse">
            <a:avLst/>
          </a:prstGeom>
          <a:ln w="19050">
            <a:solidFill>
              <a:srgbClr val="265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Cricket Research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Bot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4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system for question answering over cricket research papers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251960"/>
            <a:ext cx="29260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Manoranjith  |  GenAI Capstone Project  |  August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5989320"/>
            <a:ext cx="580644" cy="384048"/>
          </a:xfrm>
          <a:prstGeom prst="roundRect">
            <a:avLst>
              <a:gd name="adj" fmla="val 19048"/>
            </a:avLst>
          </a:prstGeom>
          <a:solidFill>
            <a:srgbClr val="24543A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989320"/>
            <a:ext cx="580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513332" y="59893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24543A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13332" y="5989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43300" y="5989320"/>
            <a:ext cx="676656" cy="384048"/>
          </a:xfrm>
          <a:prstGeom prst="roundRect">
            <a:avLst>
              <a:gd name="adj" fmla="val 19048"/>
            </a:avLst>
          </a:prstGeom>
          <a:solidFill>
            <a:srgbClr val="24543A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3300" y="5989320"/>
            <a:ext cx="676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21124" y="5989320"/>
            <a:ext cx="1156716" cy="384048"/>
          </a:xfrm>
          <a:prstGeom prst="roundRect">
            <a:avLst>
              <a:gd name="adj" fmla="val 19048"/>
            </a:avLst>
          </a:prstGeom>
          <a:solidFill>
            <a:srgbClr val="24543A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1124" y="5989320"/>
            <a:ext cx="11567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561320" y="594360"/>
            <a:ext cx="1051560" cy="1051560"/>
          </a:xfrm>
          <a:prstGeom prst="ellipse">
            <a:avLst/>
          </a:prstGeom>
          <a:solidFill>
            <a:srgbClr val="245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0561320" y="594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990" dirty="0">
                <a:solidFill>
                  <a:srgbClr val="000000"/>
                </a:solidFill>
              </a:rPr>
              <a:t>🏏</a:t>
            </a:r>
            <a:endParaRPr lang="en-US" sz="29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know a lot — but not your papers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answer from what they memorized during training. They cannot see a curated, private set of cricket research papers, and when asked about them anyway, they tend to guess — confidently.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3593592" cy="3063240"/>
          </a:xfrm>
          <a:prstGeom prst="roundRect">
            <a:avLst>
              <a:gd name="adj" fmla="val 2985"/>
            </a:avLst>
          </a:prstGeom>
          <a:solidFill>
            <a:srgbClr val="F4F1E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926080"/>
            <a:ext cx="594360" cy="59436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</a:rPr>
              <a:t>🎯</a:t>
            </a:r>
            <a:endParaRPr lang="en-US" sz="169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as a curated cricket-analytics archive, we need a chatbot that can answer questions grounded in a specific set of cricket research papers — analytics, biomechanics, and strategy.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79392" y="2651760"/>
            <a:ext cx="3593592" cy="3063240"/>
          </a:xfrm>
          <a:prstGeom prst="roundRect">
            <a:avLst>
              <a:gd name="adj" fmla="val 2985"/>
            </a:avLst>
          </a:prstGeom>
          <a:solidFill>
            <a:srgbClr val="F4F1E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53712" y="2926080"/>
            <a:ext cx="594360" cy="59436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</a:rPr>
              <a:t>🏁</a:t>
            </a:r>
            <a:endParaRPr lang="en-US" sz="1690" dirty="0"/>
          </a:p>
        </p:txBody>
      </p:sp>
      <p:sp>
        <p:nvSpPr>
          <p:cNvPr id="14" name="Text 12"/>
          <p:cNvSpPr/>
          <p:nvPr/>
        </p:nvSpPr>
        <p:spPr>
          <a:xfrm>
            <a:off x="4553712" y="365760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53712" y="41148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papers into a vector database, retrieve the most relevant passages for a query, and generate answers that cite the exact paper and page they came from.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01584" y="2651760"/>
            <a:ext cx="3593592" cy="3063240"/>
          </a:xfrm>
          <a:prstGeom prst="roundRect">
            <a:avLst>
              <a:gd name="adj" fmla="val 2985"/>
            </a:avLst>
          </a:prstGeom>
          <a:solidFill>
            <a:srgbClr val="F4F1E8"/>
          </a:solidFill>
          <a:ln/>
        </p:spPr>
      </p:sp>
      <p:sp>
        <p:nvSpPr>
          <p:cNvPr id="17" name="Shape 15"/>
          <p:cNvSpPr/>
          <p:nvPr/>
        </p:nvSpPr>
        <p:spPr>
          <a:xfrm>
            <a:off x="8375904" y="2926080"/>
            <a:ext cx="594360" cy="59436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</a:rPr>
              <a:t>⚠️</a:t>
            </a:r>
            <a:endParaRPr lang="en-US" sz="1690" dirty="0"/>
          </a:p>
        </p:txBody>
      </p:sp>
      <p:sp>
        <p:nvSpPr>
          <p:cNvPr id="19" name="Text 17"/>
          <p:cNvSpPr/>
          <p:nvPr/>
        </p:nvSpPr>
        <p:spPr>
          <a:xfrm>
            <a:off x="8375904" y="365760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Hard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75904" y="41148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enough to build any RAG pipeline — the brief asks us to try multiple embedding models and retrieval strategies, and justify the final choice with evidence.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RAG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F4F1E8"/>
          </a:solidFill>
          <a:ln w="12700">
            <a:solidFill>
              <a:srgbClr val="E4E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842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0352" y="246888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Papers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2788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cricket papers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84832" y="2286000"/>
            <a:ext cx="296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282D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381098" y="187452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F4F1E8"/>
          </a:solidFill>
          <a:ln w="12700">
            <a:solidFill>
              <a:srgbClr val="E4E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81098" y="19842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54250" y="246888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Chunk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54250" y="2788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 + recursive splitter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08730" y="2286000"/>
            <a:ext cx="296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282D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04995" y="187452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F4F1E8"/>
          </a:solidFill>
          <a:ln w="12700">
            <a:solidFill>
              <a:srgbClr val="E4E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4995" y="19842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78147" y="246888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78147" y="2788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/ text-embedding-004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32627" y="2286000"/>
            <a:ext cx="296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282D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28893" y="187452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F4F1E8"/>
          </a:solidFill>
          <a:ln w="12700">
            <a:solidFill>
              <a:srgbClr val="E4EC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8893" y="19842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2045" y="246888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2045" y="2788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+ metadata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56525" y="2286000"/>
            <a:ext cx="296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282D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152790" y="187452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F4F1E8"/>
          </a:solidFill>
          <a:ln w="12700">
            <a:solidFill>
              <a:srgbClr val="E4EC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2790" y="19842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25942" y="246888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5942" y="2788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/ hybrid BM25 + cosine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780422" y="2286000"/>
            <a:ext cx="2962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282D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0076688" y="187452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F4F1E8"/>
          </a:solidFill>
          <a:ln w="12700">
            <a:solidFill>
              <a:srgbClr val="E4EC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76688" y="19842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149840" y="246888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149840" y="2788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→ grounded answer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4ECE4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79476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answer always returns the top-3 supporting passages (paper title + page number) alongside the generated text, so every claim is traceable back to its source.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SHAPE?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5349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(left half) happens once, offline. Querying (right half) happens on every user question, reusing the same index — this separation is what keeps the app fast after the first run.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CHUNKING · 1/2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3 cricket research papers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original PDFs covering core cricket-analytics topics — data analytics &amp; ML in cricket, fast-bowling biomechanics &amp; injury prevention, and T20 powerplay / death-over strategy — used to build and validate the pipeline end-to-end. The same pipeline works unchanged on any PDF dropped into the papers folder, including real published cricket-analytics or sports-science papers.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4F1E8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3063240"/>
            <a:ext cx="502920" cy="50292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📈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713232" y="3675888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1 — Cricket Analytics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4041648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machine learning in modern cricket: win-probability models, player performance prediction.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283464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4F1E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35424" y="3063240"/>
            <a:ext cx="502920" cy="50292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🦴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4535424" y="3675888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2 — Bowling Biomechanics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35424" y="4041648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Biomechanics of fast bowling: action phases, injury risk, and workload management.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1584" y="283464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4F1E8"/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3063240"/>
            <a:ext cx="502920" cy="50292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⚡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8357616" y="3675888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3 — T20 Strategy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57616" y="4041648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aggression, death-over bowling variation, and matchup-based field-setting analytics.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4ECE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0109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LOADER: PyPDFLoader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528523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Document per page with page number already in metadata — exactly the granularity citations need.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8920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4ECE4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50109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RETAINED PER CHUNK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528523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paper_title, source_file, page_number, chunk_id — carried through chunking automatically.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CHUNKING · 2/2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strategy: recursive character splitting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 — chunk_size=700, chunk_overlap=120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593592" cy="2286000"/>
          </a:xfrm>
          <a:prstGeom prst="roundRect">
            <a:avLst>
              <a:gd name="adj" fmla="val 4000"/>
            </a:avLst>
          </a:prstGeom>
          <a:solidFill>
            <a:srgbClr val="F4F1E8"/>
          </a:solidFill>
          <a:ln w="12700">
            <a:solidFill>
              <a:srgbClr val="E4E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94560"/>
            <a:ext cx="3081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Fixed-size chunking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926080"/>
            <a:ext cx="30815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at a fixed character count. Simple, but can slice a sentence in half mid-thought.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965960"/>
            <a:ext cx="3593592" cy="2286000"/>
          </a:xfrm>
          <a:prstGeom prst="roundRect">
            <a:avLst>
              <a:gd name="adj" fmla="val 4000"/>
            </a:avLst>
          </a:prstGeom>
          <a:solidFill>
            <a:srgbClr val="1F4B33"/>
          </a:solidFill>
          <a:ln/>
        </p:spPr>
      </p:sp>
      <p:sp>
        <p:nvSpPr>
          <p:cNvPr id="10" name="Shape 8"/>
          <p:cNvSpPr/>
          <p:nvPr/>
        </p:nvSpPr>
        <p:spPr>
          <a:xfrm>
            <a:off x="6638544" y="21488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638544" y="21488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35424" y="2194560"/>
            <a:ext cx="3081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character splitting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5424" y="2926080"/>
            <a:ext cx="30815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paragraph breaks first, then lines, then sentences — only hard-cutting as a last resort. Keeps chunks coherent.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965960"/>
            <a:ext cx="3593592" cy="2286000"/>
          </a:xfrm>
          <a:prstGeom prst="roundRect">
            <a:avLst>
              <a:gd name="adj" fmla="val 4000"/>
            </a:avLst>
          </a:prstGeom>
          <a:solidFill>
            <a:srgbClr val="F4F1E8"/>
          </a:solidFill>
          <a:ln w="12700">
            <a:solidFill>
              <a:srgbClr val="E4E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2194560"/>
            <a:ext cx="3081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chunking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57616" y="2926080"/>
            <a:ext cx="30815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topic shifts detected via sentence embeddings. More precise, but slower and adds an extra embedding pass per document.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TRADE-OFF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</a:t>
            </a:r>
            <a:r>
              <a:rPr lang="en-US" sz="13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loses surrounding context needed to interpret a passage.
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 </a:t>
            </a:r>
            <a:r>
              <a:rPr lang="en-US" sz="13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mixes multiple ideas, diluting the embedding and hurting retrieval precision.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embedding models, compared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2606040"/>
          </a:xfrm>
          <a:prstGeom prst="roundRect">
            <a:avLst>
              <a:gd name="adj" fmla="val 3509"/>
            </a:avLst>
          </a:prstGeom>
          <a:solidFill>
            <a:srgbClr val="F4F1E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47672"/>
            <a:ext cx="548640" cy="54864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🧩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BAAI/bge-m3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— Hugging Face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98648"/>
            <a:ext cx="82296" cy="82296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889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via sentence-transformers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27355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API key, no per-call cost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867912"/>
            <a:ext cx="82296" cy="82296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75818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local compute (CPU works for small corpora)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440680" cy="2606040"/>
          </a:xfrm>
          <a:prstGeom prst="roundRect">
            <a:avLst>
              <a:gd name="adj" fmla="val 3509"/>
            </a:avLst>
          </a:prstGeom>
          <a:solidFill>
            <a:srgbClr val="F4F1E8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1947672"/>
            <a:ext cx="548640" cy="54864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💳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7269480" y="1920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text-embedding-004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69480" y="22860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— Google Gemini API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2898648"/>
            <a:ext cx="82296" cy="82296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27889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over the network, no local setup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3383280"/>
            <a:ext cx="82296" cy="82296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327355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per-token cost, very low latency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3867912"/>
            <a:ext cx="82296" cy="82296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75818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&amp; updated by the provider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452628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E4ECE4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FROM TESTING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937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correctly surfaced the right passage as the #1 result for most test queries. text-embedding-004 was marginally more precise on queries phrased differently from the source wording; bge-m3 performed comparably at zero marginal cost. Each is indexed into its own ChromaDB collection so they never overwrite one another.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&amp; RETRIEVAL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 + two retrieval strategies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E4ECE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DB: ChromaDB (local)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4767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metadata (paper title, page) alongside every vector natively — FAISS would need a separate lookup table for the same result.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Retrieval (Cosine)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query and returns the chunks closest by vector similarity. Strong when query wording matches the source text.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7432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9260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(BM25 + Dense)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33375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keyword scoring (BM25) with dense similarity via rank fusion. Catches exact technical terms dense search alone can miss.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1F4B3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SELECTION: HYBRID RETRIEVAL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consistently surfaced BM25-favoured chunks containing the query's exact technical term (e.g. “acute:chronic workload ratio”, “powerplay”) in its top-3, which dense-only retrieval sometimes ranked lower or missed when phrasing differed from the source text.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retrieval + generation together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12271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LangChain LCEL:   retriever  →  format context  →  prompt  →  Gemini  →  answer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🎯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143000" y="2514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Context-only grounding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27889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the retrieved context — never fall back on the model's own trained knowledge.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❓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143000" y="3383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know” fallback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36576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context is insufficient, say so explicitly instead of guessing — the single biggest lever against hallucination.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502920" cy="50292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🏷️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citation labels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" y="4526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passage is labeled with its paper title + page number directly in the prompt, so the model can reference them naturally.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2514600"/>
            <a:ext cx="5715000" cy="2606040"/>
          </a:xfrm>
          <a:prstGeom prst="roundRect">
            <a:avLst>
              <a:gd name="adj" fmla="val 3509"/>
            </a:avLst>
          </a:prstGeom>
          <a:solidFill>
            <a:srgbClr val="F4F1E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2743200"/>
            <a:ext cx="548640" cy="54864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🤖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694944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LLM: Google Gemini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263640" y="3429000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toggling between 3.1-flash-lite, 3.1-flash, and 3.1-pro to balance speed vs. reasoning depth based on query complexity and user preference.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Q&amp;A with source citations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406640" cy="4160520"/>
          </a:xfrm>
          <a:prstGeom prst="roundRect">
            <a:avLst>
              <a:gd name="adj" fmla="val 2198"/>
            </a:avLst>
          </a:prstGeom>
          <a:solidFill>
            <a:srgbClr val="F4F1E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8288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acute:chronic workload ratio and why is it tracked?”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514600"/>
            <a:ext cx="6309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ratio of a bowler's recent (acute) workload to their longer-term (chronic) workload. A sudden spike well above 1.0 is associated with substantially elevated injury risk, so squads track it closely across training and matches, not just in matches.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6858000" cy="0"/>
          </a:xfrm>
          <a:prstGeom prst="line">
            <a:avLst/>
          </a:prstGeom>
          <a:noFill/>
          <a:ln w="12700">
            <a:solidFill>
              <a:srgbClr val="E4E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SOURCES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Paper 2 — Fast Bowling Biomechanics, p.2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846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Paper 2 — Fast Bowling Biomechanics, p.3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Paper 1 — Cricket Analytics, p.1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440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traceable back to the exact paper and page it was generated from.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600200"/>
            <a:ext cx="3566160" cy="1252728"/>
          </a:xfrm>
          <a:prstGeom prst="roundRect">
            <a:avLst>
              <a:gd name="adj" fmla="val 5839"/>
            </a:avLst>
          </a:prstGeom>
          <a:solidFill>
            <a:srgbClr val="1F4B33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1600200"/>
            <a:ext cx="123444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646920" y="1600200"/>
            <a:ext cx="196596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questions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papers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3054096"/>
            <a:ext cx="3566160" cy="1252728"/>
          </a:xfrm>
          <a:prstGeom prst="roundRect">
            <a:avLst>
              <a:gd name="adj" fmla="val 5839"/>
            </a:avLst>
          </a:prstGeom>
          <a:solidFill>
            <a:srgbClr val="1F4B33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3054096"/>
            <a:ext cx="123444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646920" y="3054096"/>
            <a:ext cx="196596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shown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answer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4507992"/>
            <a:ext cx="3566160" cy="1252728"/>
          </a:xfrm>
          <a:prstGeom prst="roundRect">
            <a:avLst>
              <a:gd name="adj" fmla="val 5839"/>
            </a:avLst>
          </a:prstGeom>
          <a:solidFill>
            <a:srgbClr val="1F4B33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507992"/>
            <a:ext cx="123444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646920" y="4507992"/>
            <a:ext cx="196596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query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refused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walkthrough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captured from the deployed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4F1E8"/>
          </a:solidFill>
          <a:ln w="19050">
            <a:solidFill>
              <a:srgbClr val="E4ECE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5440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🖼️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Query Input &amp; Generated Answer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4F1E8"/>
          </a:solidFill>
          <a:ln w="19050">
            <a:solidFill>
              <a:srgbClr val="E4ECE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63640" y="3291840"/>
            <a:ext cx="5440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🖼️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629400" y="48920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Source Citations &amp; Page 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8EEB9F-1C6B-C68A-CBBB-C40A2DAD2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34" y="1965960"/>
            <a:ext cx="5570376" cy="3840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05084F-45C8-1E95-8837-C7DDF2A2E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977" y="1965025"/>
            <a:ext cx="5690249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· ADVANCED OPTION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polished Streamlit UI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Streamlit application (app.py) on top of the same pipeline used in the notebook — no logic duplicated, both share the exact modules in src/.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368296"/>
            <a:ext cx="100584" cy="100584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input box + Ask button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825496"/>
            <a:ext cx="100584" cy="100584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4320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answer displayed prominently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282696"/>
            <a:ext cx="100584" cy="100584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0040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supporting passages shown with paper title + page number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739896"/>
            <a:ext cx="100584" cy="100584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5760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toggle to switch between dense and hybrid retrieval live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197096"/>
            <a:ext cx="100584" cy="100584"/>
          </a:xfrm>
          <a:prstGeom prst="ellipse">
            <a:avLst/>
          </a:prstGeom>
          <a:solidFill>
            <a:srgbClr val="B3282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1480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indexing (@st.cache_resource) — instant after first run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12271B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22860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streamlit run app.py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40880" y="34290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4F1E8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3611880"/>
            <a:ext cx="4206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Streamlit's own free hosting for the live demo during mentor review.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src/ modules power both the notebook and the app — nothing can drift out of sync.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2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hard, and what it taught 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1E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92808"/>
            <a:ext cx="502920" cy="50292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🧵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325880" y="189280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prose vs. lists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headings inside PDF text sometimes got glued to the following paragraph; tuning separators to try line breaks before sentences fixed most cases.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1E8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1892808"/>
            <a:ext cx="502920" cy="50292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🔀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132320" y="189280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vs. hybrid disagreement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51460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retrievers agreed most of the time, but hybrid's edge only showed up on queries using exact domain terms — a useful reminder to test with realistic, jargon-heavy questions.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1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133088"/>
            <a:ext cx="502920" cy="50292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📦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325880" y="413308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version drift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75488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LangChain's 1.x restructuring moved retriever classes used here; pinning to the stable 0.3.x line kept the notebook reproducible.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1E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4133088"/>
            <a:ext cx="502920" cy="502920"/>
          </a:xfrm>
          <a:prstGeom prst="ellipse">
            <a:avLst/>
          </a:prstGeom>
          <a:solidFill>
            <a:srgbClr val="E4ECE4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🎚️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7132320" y="413308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model tiers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475488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3.1-flash-lite is fast but occasionally under-explains; 3.1-pro is noticeably slower. 3.1-flash was the best default for demo responsiveness.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solidFill>
            <a:srgbClr val="1A3B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17520" y="16002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 — per-page metadata for citation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17520" y="20574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RecursiveCharacterTextSplitter, 700 / 120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881360" cy="457200"/>
          </a:xfrm>
          <a:prstGeom prst="rect">
            <a:avLst/>
          </a:prstGeom>
          <a:solidFill>
            <a:srgbClr val="1A3B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17520" y="2514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(open-source) + text-embedding-004 (commercial)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17520" y="29718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ChromaDB, local, metadata-native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solidFill>
            <a:srgbClr val="1A3B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17520" y="34290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(cosine) + Hybrid (BM25 + dense) — hybrid selected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3886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17520" y="38862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— toggle between 3.1-flash-lite / 3.1-flash / 3.1-pro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solidFill>
            <a:srgbClr val="1A3B2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343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17520" y="43434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with live retrieval-strategy toggle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33095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9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re-ranking on top of hybrid retrieval   •   conversational memory for multi-turn Q&amp;A   •   RAGAS / DeepEval for automated, repeatable scoring   •   expand corpus with real published cricket-analytics papers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RESEARCH ANSWER BOT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1612</Words>
  <Application>Microsoft Office PowerPoint</Application>
  <PresentationFormat>Widescreen</PresentationFormat>
  <Paragraphs>227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MANORANJITH PERIASAMY</cp:lastModifiedBy>
  <cp:revision>2</cp:revision>
  <dcterms:created xsi:type="dcterms:W3CDTF">2026-08-31T01:31:17Z</dcterms:created>
  <dcterms:modified xsi:type="dcterms:W3CDTF">2026-08-31T13:28:42Z</dcterms:modified>
</cp:coreProperties>
</file>